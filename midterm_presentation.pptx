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D42C4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286000"/>
            <a:ext cx="3657600" cy="3657600"/>
          </a:xfrm>
          <a:prstGeom prst="ellipse">
            <a:avLst/>
          </a:prstGeom>
          <a:solidFill>
            <a:srgbClr val="9E054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FCB0B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全球粉紅酒競爭版圖下的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Premiumization 策略分析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B0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以公開貿易與消費者評鑑數據探索法國普羅旺斯 Rosé 的市場定位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2743200" cy="0"/>
          </a:xfrm>
          <a:prstGeom prst="line">
            <a:avLst/>
          </a:prstGeom>
          <a:noFill/>
          <a:ln w="25400">
            <a:solidFill>
              <a:srgbClr val="D42C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B0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商業分析期中報告｜國立中山大學 資訊管理學系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張育萱 ｜ 2026/4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1143000"/>
            <a:ext cx="320040" cy="320040"/>
          </a:xfrm>
          <a:prstGeom prst="ellipse">
            <a:avLst/>
          </a:prstGeom>
          <a:solidFill>
            <a:srgbClr val="D42C43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研究動機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320040" cy="320040"/>
          </a:xfrm>
          <a:prstGeom prst="ellipse">
            <a:avLst/>
          </a:prstGeom>
          <a:solidFill>
            <a:srgbClr val="D42C4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研究問題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331720"/>
            <a:ext cx="320040" cy="320040"/>
          </a:xfrm>
          <a:prstGeom prst="ellipse">
            <a:avLst/>
          </a:prstGeom>
          <a:solidFill>
            <a:srgbClr val="9E054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產業背景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2926080"/>
            <a:ext cx="320040" cy="320040"/>
          </a:xfrm>
          <a:prstGeom prst="ellipse">
            <a:avLst/>
          </a:prstGeom>
          <a:solidFill>
            <a:srgbClr val="9E054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資料來源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7280" y="3520440"/>
            <a:ext cx="320040" cy="320040"/>
          </a:xfrm>
          <a:prstGeom prst="ellipse">
            <a:avLst/>
          </a:prstGeom>
          <a:solidFill>
            <a:srgbClr val="E8919C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初步分析結果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97280" y="4114800"/>
            <a:ext cx="320040" cy="320040"/>
          </a:xfrm>
          <a:prstGeom prst="ellipse">
            <a:avLst/>
          </a:prstGeom>
          <a:solidFill>
            <a:srgbClr val="E8919C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小結與期末方向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研究動機（一）：法國葡萄酒的結構性危機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887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2025年11月，法國南部 Béziers 爆發大規模酒農抗議。法國政府投入 1.3 億歐元補助拔除葡萄藤，啟動「國家危機退出計畫」。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紅酒零售銷量三年暴跌 </a:t>
            </a:r>
            <a:pPr indent="0" marL="0">
              <a:buNone/>
            </a:pPr>
            <a:r>
              <a:rPr lang="en-US" sz="1800" b="1" dirty="0">
                <a:solidFill>
                  <a:srgbClr val="D42C43"/>
                </a:solidFill>
              </a:rPr>
              <a:t>15%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2024年法國總產量年減 </a:t>
            </a:r>
            <a:pPr indent="0" marL="0">
              <a:buNone/>
            </a:pPr>
            <a:r>
              <a:rPr lang="en-US" sz="1800" b="1" dirty="0">
                <a:solidFill>
                  <a:srgbClr val="D42C43"/>
                </a:solidFill>
              </a:rPr>
              <a:t>23%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，1950年代以來最低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2025年出口額下滑 </a:t>
            </a:r>
            <a:pPr indent="0" marL="0">
              <a:buNone/>
            </a:pPr>
            <a:r>
              <a:rPr lang="en-US" sz="1800" b="1" dirty="0">
                <a:solidFill>
                  <a:srgbClr val="D42C43"/>
                </a:solidFill>
              </a:rPr>
              <a:t>8%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 至143億歐元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FFDCCD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63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3,700萬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百升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2024 年法國葡萄酒總產量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為近 70 年來最低水準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資料來源：The Drinks Business (2025); Vinetur (2024)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研究動機（二）：普羅旺斯 Rosé 的微觀困境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(2025) 以 Château Vignelaure 為研究對象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AOP Coteaux d'Aix-en-Provence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年產約 25 萬瓶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2021-2024 營收下滑近 </a:t>
            </a:r>
            <a:pPr indent="0" marL="0">
              <a:buNone/>
            </a:pPr>
            <a:r>
              <a:rPr lang="en-US" sz="2000" b="1" dirty="0">
                <a:solidFill>
                  <a:srgbClr val="D42C43"/>
                </a:solidFill>
              </a:rPr>
              <a:t>16%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出口占比從 61.4% 降至 </a:t>
            </a:r>
            <a:pPr indent="0" marL="0">
              <a:buNone/>
            </a:pPr>
            <a:r>
              <a:rPr lang="en-US" sz="2000" b="1" dirty="0">
                <a:solidFill>
                  <a:srgbClr val="D42C43"/>
                </a:solidFill>
              </a:rPr>
              <a:t>45.1%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840480" cy="2103120"/>
          </a:xfrm>
          <a:prstGeom prst="roundRect">
            <a:avLst>
              <a:gd name="adj" fmla="val 6522"/>
            </a:avLst>
          </a:prstGeom>
          <a:solidFill>
            <a:srgbClr val="FFDCCD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Rosé 出口量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13.5萬瓶 → 7.8萬瓶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2021 → 2024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出口通路價格敏感度最高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訂單頻率卻是所有通路中最低的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D42C43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290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該研究指出，出口通路對價格的敏感度最高，且訂單頻率是銷售績效最強的預測因子——但出口商的訂單頻率恰恰是所有通路中最低的。這揭示了普羅旺斯酒莊在出口市場的結構性矛盾。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資料來源：Chang, Y.H. (2025). MSc Thesis, Bordeaux Sciences Agro.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研究動機（三）：從個案到通則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371600"/>
          </a:xfrm>
          <a:prstGeom prst="roundRect">
            <a:avLst>
              <a:gd name="adj" fmla="val 10000"/>
            </a:avLst>
          </a:prstGeom>
          <a:solidFill>
            <a:srgbClr val="D42C43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一間普羅旺斯酒莊，業務資源有限，面對出口萎縮——該優先開發哪個市場？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2C4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本報告目標：建構一套基於公開數據的「出口市場優先排序工具」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292608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2834640"/>
            <a:ext cx="2926080" cy="54864"/>
          </a:xfrm>
          <a:prstGeom prst="rect">
            <a:avLst/>
          </a:prstGeom>
          <a:solidFill>
            <a:srgbClr val="9E0540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0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供給端分析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474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誰在出口？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賣什麼價？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出口結構為何？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2834640"/>
            <a:ext cx="292608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2834640"/>
            <a:ext cx="2926080" cy="54864"/>
          </a:xfrm>
          <a:prstGeom prst="rect">
            <a:avLst/>
          </a:prstGeom>
          <a:solidFill>
            <a:srgbClr val="E8919C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需求端分析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3474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消費者評價如何？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價格接受度？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風味偏好？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研究問題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097280"/>
          </a:xfrm>
          <a:prstGeom prst="roundRect">
            <a:avLst>
              <a:gd name="adj" fmla="val 12500"/>
            </a:avLst>
          </a:prstGeom>
          <a:solidFill>
            <a:srgbClr val="FFDCC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在全球葡萄酒消費量跌至 1961 年以來最低的結構性衰退下，法國普羅旺斯粉紅酒相對於其他產酒國的競爭定位為何？各國在價格帶、品質評價、出口結構上如何差異化佈局？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9E054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各主要產酒國在全球葡萄酒貿易中的市占率與均價如何變化？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0" y="2423160"/>
            <a:ext cx="914400" cy="320040"/>
          </a:xfrm>
          <a:prstGeom prst="rect">
            <a:avLst/>
          </a:prstGeom>
          <a:solidFill>
            <a:srgbClr val="9E0540">
              <a:alpha val="1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05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供給面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E8919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消費者對各國粉紅酒的價格接受度與品質評價有何差異？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0" y="3291840"/>
            <a:ext cx="914400" cy="320040"/>
          </a:xfrm>
          <a:prstGeom prst="rect">
            <a:avLst/>
          </a:prstGeom>
          <a:solidFill>
            <a:srgbClr val="E8919C">
              <a:alpha val="1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919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需求面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D42C4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4114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法國普羅旺斯在「價格-品質」座標上佔據什麼戰略位置？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4160520"/>
            <a:ext cx="914400" cy="320040"/>
          </a:xfrm>
          <a:prstGeom prst="rect">
            <a:avLst/>
          </a:prstGeom>
          <a:solidFill>
            <a:srgbClr val="D42C43">
              <a:alpha val="1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2C4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定位面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產業背景（一）：全球葡萄酒的結構性衰退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214.2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百萬百升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2024全球消費量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年減 3.3%，1961年來最低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051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143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225.8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百萬百升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965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2024全球產量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年減 4.8%，60年來最低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DCC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143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E0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億歐元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65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出口值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僅微降 0.3%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051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DCCD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143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E0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4944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€/公升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1965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出口均價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維持穩定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017520"/>
            <a:ext cx="8046720" cy="1463040"/>
          </a:xfrm>
          <a:prstGeom prst="roundRect">
            <a:avLst>
              <a:gd name="adj" fmla="val 6250"/>
            </a:avLst>
          </a:prstGeom>
          <a:solidFill>
            <a:srgbClr val="D42C43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結論：量跌但值撐住 → Premiumization 是結構性趨勢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消費者「喝得更少，但喝得更好」——全球葡萄酒正從「量的競爭」轉向「值的競爭」。中國市場自 2018 年每年流失約 200 萬百升，美國消費量下降 5.8%，法國下降 3.6%。但出口均價持穩，顯示高端化趨勢正在支撐整體市場價值。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資料來源：OIV (2025), State of the World Vine and Wine Sector in 2024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產業背景（二）：Provence Rosé 在全球粉紅酒的地位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法國占全球粉紅酒產量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2000-06年僅24.4%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2014-21年升至31.9%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188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€3.75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法國rosé出口均價/瓶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240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全球均價僅 €1.57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法國是 2.4 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188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法/西/義合計出口占比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三國壟斷全球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粉紅酒貿易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FDCC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但競爭者正在逼近：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美國已成為全球第三大粉紅酒生產國。智利、南非產量近年大幅成長。粉紅酒需求成長主要由英國、德國、美國驅動。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資料來源：OIV (2023) Wine by Colour; CIVP/OIV Rosé World Tracking (2019)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產業背景（三）：粉紅酒的三大競爭陣營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2560320" cy="54864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高端價值型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法國、美國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高均價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品牌溢價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瓶裝為主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05156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51560"/>
            <a:ext cx="2560320" cy="54864"/>
          </a:xfrm>
          <a:prstGeom prst="rect">
            <a:avLst/>
          </a:prstGeom>
          <a:solidFill>
            <a:srgbClr val="9E054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234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0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量價均衡型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義大利、澳洲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0116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中等均價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品質穩定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結構多元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2560320" cy="54864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234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低價規模型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西班牙、智利、阿根廷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低均價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散裝出口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大量供應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需求端三大成長市場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FDCC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  $71億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全球最大進口市場，偏好中高價位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388620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FDCCD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英國  $29.74/L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進口均價最高，追求 premium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88620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FFDCCD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德國  $2.15/L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量大但均價低，價格敏感型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資料來源：UN Comtrade HS 2204 (2024)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1371600"/>
          </a:xfrm>
          <a:prstGeom prst="rect">
            <a:avLst/>
          </a:prstGeom>
          <a:solidFill>
            <a:srgbClr val="9E05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0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Comtrade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聯合國國際貿易統計資料庫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234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HS 2204 葡萄酒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進出口量/值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E0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978筆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18國 × 2019-2024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80467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743200"/>
            <a:ext cx="73152" cy="1371600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Enthusiast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Kaggle 公開資料集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880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專業品酒師評鑑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評分、價格、產區、品酒筆記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6,356筆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30國粉紅酒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DCC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兩個資料集的互補性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069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Comtrade 看「供給端」——誰在出口、賣什麼價。Wine Enthusiast 看「需求端」——消費者給多少分、願意付多少錢。交叉比對：「均價高的國家，消費者評分是否也高？」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初步結果（一）：出口值市占率趨勢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7548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0E0E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← 請插入 圖 a-1 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77840" y="1051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14173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法國瓶裝酒出口值市占從 29.4% 升至 32.2%，義大利從 21.6% 升至 24.2%。法義合計超過 56%，雙頭壟斷格局持續強化。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2926080"/>
            <a:ext cx="3017520" cy="18288"/>
          </a:xfrm>
          <a:prstGeom prst="rect">
            <a:avLst/>
          </a:prstGeom>
          <a:solidFill>
            <a:srgbClr val="F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0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Premiumization 的贏家是法國和義大利。低價出口國正在流失市場價值份額。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資料來源：UN Comtrade, HS 2204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初步結果（二）：出口均價趨勢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7548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0E0E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← 請插入 圖 a-2 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77840" y="1051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14173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法國均價從 $4.72/瓶升至 $6.35/瓶（+34%）。西班牙 $2.27/瓶幾乎原地踏步，與法國差距從 2.4 倍擴大到 2.8 倍。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2926080"/>
            <a:ext cx="3017520" cy="18288"/>
          </a:xfrm>
          <a:prstGeom prst="rect">
            <a:avLst/>
          </a:prstGeom>
          <a:solidFill>
            <a:srgbClr val="F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0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法國與低價國之間的價格鴻溝正在擴大。這不是同一場比賽——是「高端化」與「大眾化」的兩條平行軌道。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資料來源：UN Comtrade, HS 2204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初步結果（三）：出口品類結構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7548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0E0E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← 請插入 圖 a-3 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77840" y="1051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14173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法國 81% 瓶裝 + 19% 氣泡，零散裝（純品牌路線）。智利 43% 散裝、南非 62% 散裝（原料供應路線）。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2926080"/>
            <a:ext cx="3017520" cy="18288"/>
          </a:xfrm>
          <a:prstGeom prst="rect">
            <a:avLst/>
          </a:prstGeom>
          <a:solidFill>
            <a:srgbClr val="F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0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散裝占比是判斷「品牌路線」vs「原料路線」的關鍵指標。法國的零散裝策略支撐了它的高均價。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資料來源：UN Comtrade, HS 2204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初步結果（四）：粉紅酒競爭定位圖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7548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0E0E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← 請插入 圖 b-1 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77840" y="1051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14173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普羅旺斯佔據「甜蜜點」：$22 均價 / 88.1 分，高端層中量能最大。三層結構清晰：高端（法/美/德/奧）、中端（義/澳）、入門（西/葡/智/阿）。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2926080"/>
            <a:ext cx="3017520" cy="18288"/>
          </a:xfrm>
          <a:prstGeom prst="rect">
            <a:avLst/>
          </a:prstGeom>
          <a:solidFill>
            <a:srgbClr val="F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0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普羅旺斯是高端粉紅酒中「最大量」的存在——既有品質支撐，又有足夠的規模。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資料來源：Wine Enthusiast via Kaggle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初步結果（五）：價格帶分布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7548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0E0E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← 請插入 圖 b-2 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77840" y="1051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14173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法國粉紅酒 74% 集中在 $10-30。西班牙 76% 低於 $15，智利 86% 低於 $15。法國與西班牙/智利的價格帶重疊不到 20%。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2926080"/>
            <a:ext cx="3017520" cy="18288"/>
          </a:xfrm>
          <a:prstGeom prst="rect">
            <a:avLst/>
          </a:prstGeom>
          <a:solidFill>
            <a:srgbClr val="F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0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3383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法國和低價國幾乎不在同一個價格帶競爭。Premiumization 讓法國「往上閃開」，低價空間被西班牙和智利填補。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資料來源：Wine Enthusiast via Kaggle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小結與期末方向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640080"/>
          </a:xfrm>
          <a:prstGeom prst="rect">
            <a:avLst/>
          </a:prstGeom>
          <a:solidFill>
            <a:srgbClr val="9E05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0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供給面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1430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法義雙頭壟斷強化，法國均價領跑，低價國份額萎縮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74520"/>
            <a:ext cx="73152" cy="640080"/>
          </a:xfrm>
          <a:prstGeom prst="rect">
            <a:avLst/>
          </a:prstGeom>
          <a:solidFill>
            <a:srgbClr val="E8919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19202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三層結構明確（高/中/入門），各層價格帶重疊度極低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51760"/>
            <a:ext cx="73152" cy="640080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974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6974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普羅旺斯 = 高端層中量能最大、性價比最優的「甜蜜點」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FDCC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2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期末將進一步做什麼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建構預測模型或消費者偏好分析模型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比較多種機器學習方法的準確度（R², MAE, RMSE）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產出可操作的「出口市場優先排序矩陣」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2C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參考文獻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OIV (2025). State of the World Vine and Wine Sector in 2024.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OIV (2023). Focus: Evolution of World Wine Production and Consumption by Colour.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CIVP &amp; OIV. Rosé Wines World Tracking. rosewinesworldtracking.com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Comtrade Database. HS Code 2204. data.un.org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Wine Enthusiast Reviews Dataset. Kaggle. kaggle.com/zynicide/wine-reviews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Drinks Business (2025). France ploughs €130m into uprooting vines.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Wines of Provence (2025). Wine Year in Provence and the Harvest 2025.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FranceAgriMer (2024). Exports value of wine from France.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Chang, Y.H. (2025). MSc Thesis, Bordeaux Sciences Agro.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全球粉紅酒競爭版圖下的 Premiumization 策略分析</dc:title>
  <dc:subject>PptxGenJS Presentation</dc:subject>
  <dc:creator>Yu Hsuan Chang</dc:creator>
  <cp:lastModifiedBy>Yu Hsuan Chang</cp:lastModifiedBy>
  <cp:revision>1</cp:revision>
  <dcterms:created xsi:type="dcterms:W3CDTF">2026-05-06T17:21:45Z</dcterms:created>
  <dcterms:modified xsi:type="dcterms:W3CDTF">2026-05-06T17:21:45Z</dcterms:modified>
</cp:coreProperties>
</file>